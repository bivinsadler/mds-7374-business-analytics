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74"/>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2984D-D98A-EB4B-80CE-E79C6CD5A7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B7F881-8BEE-0D4F-9C5E-F32FF8B9CA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1E721AA-0350-CD4E-AAE1-42115AF33ACE}"/>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5" name="Footer Placeholder 4">
            <a:extLst>
              <a:ext uri="{FF2B5EF4-FFF2-40B4-BE49-F238E27FC236}">
                <a16:creationId xmlns:a16="http://schemas.microsoft.com/office/drawing/2014/main" id="{50DA82D3-F22C-7447-B0E1-247456B492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63C678-0F51-B549-BB39-869873E7B27C}"/>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3362229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402D0-C30B-544D-9988-873BDA00B4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5D9E6F-DBD8-D54C-8C25-8690B560EE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223AA1-AFF6-9043-819C-ECEC7633D794}"/>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5" name="Footer Placeholder 4">
            <a:extLst>
              <a:ext uri="{FF2B5EF4-FFF2-40B4-BE49-F238E27FC236}">
                <a16:creationId xmlns:a16="http://schemas.microsoft.com/office/drawing/2014/main" id="{6AFFF394-160A-7040-804D-4C810D2227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196E21-21B5-2A4C-B683-481BF2CF05EE}"/>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550881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3F215-63F9-EC4D-A4E2-8F7A63EEBE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78EC1C-C984-4B48-9809-640CE2EF74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487736-9EDC-5E41-9CAF-F48F798F2331}"/>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5" name="Footer Placeholder 4">
            <a:extLst>
              <a:ext uri="{FF2B5EF4-FFF2-40B4-BE49-F238E27FC236}">
                <a16:creationId xmlns:a16="http://schemas.microsoft.com/office/drawing/2014/main" id="{9EBD38D8-71D9-7148-BB3D-2F6F8827E5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ABF64B-2842-5F49-88E9-B2B435201486}"/>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1655680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2CB0D-7148-8D45-AE1F-B0D5EDD17B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22D231-5EE7-154D-B28D-89FC071068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DB8BD3A-9D20-6A42-95F7-3A2FE80AA2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3EDE46-C8D2-914F-A085-38DD37A40167}"/>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6" name="Footer Placeholder 5">
            <a:extLst>
              <a:ext uri="{FF2B5EF4-FFF2-40B4-BE49-F238E27FC236}">
                <a16:creationId xmlns:a16="http://schemas.microsoft.com/office/drawing/2014/main" id="{18E746D4-2C13-3143-92B0-065C6CC7E1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400795-5E68-AD4D-A222-A827386A9DB9}"/>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2607584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EA096-7FC3-9043-A62D-1B3716D970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47CCA17-3FEC-684B-98F5-369497965E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808A37-8335-B847-A36D-FBBC5202E5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BD42FF-C89A-3A44-93ED-2C789DCF43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4FAC08-4134-044B-9ABF-0FFEE87F7D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7C0A39-E179-F24A-BF28-4C9F498CA9CE}"/>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8" name="Footer Placeholder 7">
            <a:extLst>
              <a:ext uri="{FF2B5EF4-FFF2-40B4-BE49-F238E27FC236}">
                <a16:creationId xmlns:a16="http://schemas.microsoft.com/office/drawing/2014/main" id="{39C0AE7B-3412-B148-AD91-01EFA257F8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6C4EAB2-B25E-5D4C-869D-FCDF8E0DF08C}"/>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436348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888B4-5ED6-7844-8F0B-409268AD77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C23E5B1-6D2C-5242-94AB-4B4764BF9137}"/>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4" name="Footer Placeholder 3">
            <a:extLst>
              <a:ext uri="{FF2B5EF4-FFF2-40B4-BE49-F238E27FC236}">
                <a16:creationId xmlns:a16="http://schemas.microsoft.com/office/drawing/2014/main" id="{A4D3462F-20B1-314C-9078-9AD499B1C5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FB9A7E-DFFD-114D-AA7A-FE8DF492910A}"/>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2955067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76D28C-BA0F-1F4D-8696-744293977BC7}"/>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3" name="Footer Placeholder 2">
            <a:extLst>
              <a:ext uri="{FF2B5EF4-FFF2-40B4-BE49-F238E27FC236}">
                <a16:creationId xmlns:a16="http://schemas.microsoft.com/office/drawing/2014/main" id="{8AA9A027-6CDC-DC4A-91F6-727D149228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F18CD5-BB0C-F74D-B622-2C3213CEF895}"/>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3835041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57ED6-3C4A-D043-B4E7-F76A389310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0323F3-453E-D24D-9896-F159E74416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E52B2D1-6E01-7441-91C7-E7290F57AF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2B1A01-2C5E-904B-9F9C-F7B384E85E56}"/>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6" name="Footer Placeholder 5">
            <a:extLst>
              <a:ext uri="{FF2B5EF4-FFF2-40B4-BE49-F238E27FC236}">
                <a16:creationId xmlns:a16="http://schemas.microsoft.com/office/drawing/2014/main" id="{8EB84DFE-3BFD-C049-BEFC-B2C0093B81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D6F28E-98B7-3248-BD2C-4036E2188192}"/>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2415758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1C1A3-E1CA-6A40-9685-4CDEBAD337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0650DB-A363-6048-919B-2E2DAED600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1DD0833-FA21-944A-88D6-A1444EC7AB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AC223-444C-E248-97FF-B680CFA00CA5}"/>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6" name="Footer Placeholder 5">
            <a:extLst>
              <a:ext uri="{FF2B5EF4-FFF2-40B4-BE49-F238E27FC236}">
                <a16:creationId xmlns:a16="http://schemas.microsoft.com/office/drawing/2014/main" id="{1DC5691E-C658-E347-9C48-06997EE6B8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81CF5D-F277-8A4E-96AE-21B0B5A72304}"/>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3598399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88F06-0E77-204D-A057-EE43C6DCBD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6A2385-A7DF-2546-9301-4EAFC0D2AE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3E63D8-F616-254B-9FD2-0FAF10310E3E}"/>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5" name="Footer Placeholder 4">
            <a:extLst>
              <a:ext uri="{FF2B5EF4-FFF2-40B4-BE49-F238E27FC236}">
                <a16:creationId xmlns:a16="http://schemas.microsoft.com/office/drawing/2014/main" id="{9355464F-B1D6-6A4A-B513-AFAFF5456B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9FC355-AE3A-5E4E-9F2D-5B6E4A986F27}"/>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1274092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1900CD-214A-0D4E-8214-7AAC98C5B6A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107690-9C5D-544A-880D-859250DA64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88C57-0D54-BE41-AF30-8E98415A485A}"/>
              </a:ext>
            </a:extLst>
          </p:cNvPr>
          <p:cNvSpPr>
            <a:spLocks noGrp="1"/>
          </p:cNvSpPr>
          <p:nvPr>
            <p:ph type="dt" sz="half" idx="10"/>
          </p:nvPr>
        </p:nvSpPr>
        <p:spPr/>
        <p:txBody>
          <a:bodyPr/>
          <a:lstStyle/>
          <a:p>
            <a:fld id="{FE9C54A6-2E49-4245-9E76-AE7A089C7A60}" type="datetimeFigureOut">
              <a:rPr lang="en-US" smtClean="0"/>
              <a:t>6/28/26</a:t>
            </a:fld>
            <a:endParaRPr lang="en-US"/>
          </a:p>
        </p:txBody>
      </p:sp>
      <p:sp>
        <p:nvSpPr>
          <p:cNvPr id="5" name="Footer Placeholder 4">
            <a:extLst>
              <a:ext uri="{FF2B5EF4-FFF2-40B4-BE49-F238E27FC236}">
                <a16:creationId xmlns:a16="http://schemas.microsoft.com/office/drawing/2014/main" id="{75EE0313-B610-2F42-B937-220B37E3B3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4BAA14-5934-1F4E-A00E-FC0F712E81F7}"/>
              </a:ext>
            </a:extLst>
          </p:cNvPr>
          <p:cNvSpPr>
            <a:spLocks noGrp="1"/>
          </p:cNvSpPr>
          <p:nvPr>
            <p:ph type="sldNum" sz="quarter" idx="12"/>
          </p:nvPr>
        </p:nvSpPr>
        <p:spPr/>
        <p:txBody>
          <a:bodyPr/>
          <a:lstStyle/>
          <a:p>
            <a:fld id="{A62206AA-0859-AE44-97E7-F1AF5B4CF3DF}" type="slidenum">
              <a:rPr lang="en-US" smtClean="0"/>
              <a:t>‹#›</a:t>
            </a:fld>
            <a:endParaRPr lang="en-US"/>
          </a:p>
        </p:txBody>
      </p:sp>
    </p:spTree>
    <p:extLst>
      <p:ext uri="{BB962C8B-B14F-4D97-AF65-F5344CB8AC3E}">
        <p14:creationId xmlns:p14="http://schemas.microsoft.com/office/powerpoint/2010/main" val="1142012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C32BB2-B32C-CA4D-AF9F-A7AE1A2A64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643BCF-02EB-7049-93AB-BA1BED3BF4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1CAC64-9E6E-2B4C-B78C-12979A9348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9C54A6-2E49-4245-9E76-AE7A089C7A60}" type="datetimeFigureOut">
              <a:rPr lang="en-US" smtClean="0"/>
              <a:t>6/28/26</a:t>
            </a:fld>
            <a:endParaRPr lang="en-US"/>
          </a:p>
        </p:txBody>
      </p:sp>
      <p:sp>
        <p:nvSpPr>
          <p:cNvPr id="5" name="Footer Placeholder 4">
            <a:extLst>
              <a:ext uri="{FF2B5EF4-FFF2-40B4-BE49-F238E27FC236}">
                <a16:creationId xmlns:a16="http://schemas.microsoft.com/office/drawing/2014/main" id="{CC97E0E4-B156-A146-AF72-C985A32E46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51F8D7C-9B62-3A4B-ADD1-E6B90584D6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2206AA-0859-AE44-97E7-F1AF5B4CF3DF}" type="slidenum">
              <a:rPr lang="en-US" smtClean="0"/>
              <a:t>‹#›</a:t>
            </a:fld>
            <a:endParaRPr lang="en-US"/>
          </a:p>
        </p:txBody>
      </p:sp>
    </p:spTree>
    <p:extLst>
      <p:ext uri="{BB962C8B-B14F-4D97-AF65-F5344CB8AC3E}">
        <p14:creationId xmlns:p14="http://schemas.microsoft.com/office/powerpoint/2010/main" val="1535938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ACE1D-1E79-724F-B1CA-8C8D67085C75}"/>
              </a:ext>
            </a:extLst>
          </p:cNvPr>
          <p:cNvSpPr>
            <a:spLocks noGrp="1"/>
          </p:cNvSpPr>
          <p:nvPr>
            <p:ph type="ctrTitle"/>
          </p:nvPr>
        </p:nvSpPr>
        <p:spPr/>
        <p:txBody>
          <a:bodyPr/>
          <a:lstStyle/>
          <a:p>
            <a:r>
              <a:rPr lang="en-US"/>
              <a:t>Unit 9: </a:t>
            </a:r>
            <a:r>
              <a:rPr lang="en-US" dirty="0"/>
              <a:t>Health Care Part 2</a:t>
            </a:r>
          </a:p>
        </p:txBody>
      </p:sp>
      <p:sp>
        <p:nvSpPr>
          <p:cNvPr id="3" name="Subtitle 2">
            <a:extLst>
              <a:ext uri="{FF2B5EF4-FFF2-40B4-BE49-F238E27FC236}">
                <a16:creationId xmlns:a16="http://schemas.microsoft.com/office/drawing/2014/main" id="{793BBC26-3EB9-BA4F-BE11-F1AEFE6EE774}"/>
              </a:ext>
            </a:extLst>
          </p:cNvPr>
          <p:cNvSpPr>
            <a:spLocks noGrp="1"/>
          </p:cNvSpPr>
          <p:nvPr>
            <p:ph type="subTitle" idx="1"/>
          </p:nvPr>
        </p:nvSpPr>
        <p:spPr/>
        <p:txBody>
          <a:bodyPr/>
          <a:lstStyle/>
          <a:p>
            <a:r>
              <a:rPr lang="en-US" dirty="0"/>
              <a:t>For Live Session Assignment</a:t>
            </a:r>
          </a:p>
        </p:txBody>
      </p:sp>
    </p:spTree>
    <p:extLst>
      <p:ext uri="{BB962C8B-B14F-4D97-AF65-F5344CB8AC3E}">
        <p14:creationId xmlns:p14="http://schemas.microsoft.com/office/powerpoint/2010/main" val="621278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5C8FF-3483-AD41-B58D-CA52711203A3}"/>
              </a:ext>
            </a:extLst>
          </p:cNvPr>
          <p:cNvSpPr>
            <a:spLocks noGrp="1"/>
          </p:cNvSpPr>
          <p:nvPr>
            <p:ph type="title"/>
          </p:nvPr>
        </p:nvSpPr>
        <p:spPr/>
        <p:txBody>
          <a:bodyPr/>
          <a:lstStyle/>
          <a:p>
            <a:r>
              <a:rPr lang="en-US" dirty="0"/>
              <a:t>Medicare Fraud and ML</a:t>
            </a:r>
          </a:p>
        </p:txBody>
      </p:sp>
      <p:sp>
        <p:nvSpPr>
          <p:cNvPr id="3" name="Content Placeholder 2">
            <a:extLst>
              <a:ext uri="{FF2B5EF4-FFF2-40B4-BE49-F238E27FC236}">
                <a16:creationId xmlns:a16="http://schemas.microsoft.com/office/drawing/2014/main" id="{EE8E73A2-CE3A-4342-B124-01EC17493A9F}"/>
              </a:ext>
            </a:extLst>
          </p:cNvPr>
          <p:cNvSpPr>
            <a:spLocks noGrp="1"/>
          </p:cNvSpPr>
          <p:nvPr>
            <p:ph idx="1"/>
          </p:nvPr>
        </p:nvSpPr>
        <p:spPr>
          <a:xfrm>
            <a:off x="838200" y="1284051"/>
            <a:ext cx="10515600" cy="5437762"/>
          </a:xfrm>
        </p:spPr>
        <p:txBody>
          <a:bodyPr>
            <a:normAutofit fontScale="92500" lnSpcReduction="20000"/>
          </a:bodyPr>
          <a:lstStyle/>
          <a:p>
            <a:pPr marL="0" indent="0">
              <a:buNone/>
            </a:pPr>
            <a:r>
              <a:rPr lang="en-US" sz="2200" dirty="0"/>
              <a:t>Assume you are consulting for Blue Cross Blue Shield and your boss  found this paper and has asked you to prepare an explanation / report of its finding.  He has been in the company for 30 years and is the VP of Fraud detection but is relying in you to interpret the statistics / evidence / meaningful conclusion presented in this paper.  Prepare at least one slide for each topic (number) below.  Expected time: 3-5 hours. </a:t>
            </a:r>
          </a:p>
          <a:p>
            <a:pPr marL="0" indent="0">
              <a:buNone/>
            </a:pPr>
            <a:endParaRPr lang="en-US" sz="1600" dirty="0"/>
          </a:p>
          <a:p>
            <a:pPr marL="514350" indent="-514350">
              <a:buAutoNum type="arabicPeriod"/>
            </a:pPr>
            <a:r>
              <a:rPr lang="en-US" sz="1600" dirty="0"/>
              <a:t>Director Gray makes mention of the costs of </a:t>
            </a:r>
            <a:r>
              <a:rPr lang="en-US" sz="1600" dirty="0" err="1"/>
              <a:t>medicare</a:t>
            </a:r>
            <a:r>
              <a:rPr lang="en-US" sz="1600" dirty="0"/>
              <a:t> fraud.  In order to see the relevance and importance of this problem, what evidence / information does this paper provide to underline the potential impact that ML methods could have?  </a:t>
            </a:r>
          </a:p>
          <a:p>
            <a:pPr marL="514350" indent="-514350">
              <a:buAutoNum type="arabicPeriod"/>
            </a:pPr>
            <a:r>
              <a:rPr lang="en-US" sz="1600" dirty="0"/>
              <a:t>Describe the final data set used in this study (size, source, etc.) and any challenges / decisions made in obtaining this final data set from the original source. </a:t>
            </a:r>
          </a:p>
          <a:p>
            <a:pPr marL="514350" indent="-514350">
              <a:buAutoNum type="arabicPeriod"/>
            </a:pPr>
            <a:r>
              <a:rPr lang="en-US" sz="1600" dirty="0"/>
              <a:t>Describe to your boss what an ROC curve is, how to interpret the AUC and how the plot is formed.  </a:t>
            </a:r>
          </a:p>
          <a:p>
            <a:pPr marL="514350" indent="-514350">
              <a:buAutoNum type="arabicPeriod"/>
            </a:pPr>
            <a:r>
              <a:rPr lang="en-US" sz="1600" dirty="0"/>
              <a:t>Define Oversampling and </a:t>
            </a:r>
            <a:r>
              <a:rPr lang="en-US" sz="1600" dirty="0" err="1"/>
              <a:t>Undersampling</a:t>
            </a:r>
            <a:r>
              <a:rPr lang="en-US" sz="1600" dirty="0"/>
              <a:t>.  Why is </a:t>
            </a:r>
            <a:r>
              <a:rPr lang="en-US" sz="1600" dirty="0" err="1"/>
              <a:t>Undersampling</a:t>
            </a:r>
            <a:r>
              <a:rPr lang="en-US" sz="1600" dirty="0"/>
              <a:t> preferred here?  What are its disadvantages?  </a:t>
            </a:r>
          </a:p>
          <a:p>
            <a:pPr marL="514350" indent="-514350">
              <a:buAutoNum type="arabicPeriod"/>
            </a:pPr>
            <a:r>
              <a:rPr lang="en-US" sz="1600" dirty="0"/>
              <a:t>What method of cross validation was employed?  How many AUC / FPR and FNR statistics were generated?</a:t>
            </a:r>
          </a:p>
          <a:p>
            <a:pPr marL="514350" indent="-514350">
              <a:buAutoNum type="arabicPeriod"/>
            </a:pPr>
            <a:r>
              <a:rPr lang="en-US" sz="1600" dirty="0"/>
              <a:t>What software was used to fit the models and generate the fit statistics?  What information can you find about it from a quick web search?  </a:t>
            </a:r>
            <a:r>
              <a:rPr lang="en-US" sz="1600" dirty="0" err="1"/>
              <a:t>Sidenote</a:t>
            </a:r>
            <a:r>
              <a:rPr lang="en-US" sz="1600" dirty="0"/>
              <a:t>: </a:t>
            </a:r>
          </a:p>
          <a:p>
            <a:pPr marL="514350" indent="-514350">
              <a:buAutoNum type="arabicPeriod"/>
            </a:pPr>
            <a:r>
              <a:rPr lang="en-US" sz="1600" dirty="0"/>
              <a:t>What software do you / have you used in your company?  Do they prefer a particular software / language or are they “agnostic” and leave it up to the researcher/data scientist/analyst? </a:t>
            </a:r>
          </a:p>
          <a:p>
            <a:pPr marL="514350" indent="-514350">
              <a:buAutoNum type="arabicPeriod"/>
            </a:pPr>
            <a:r>
              <a:rPr lang="en-US" sz="1600" dirty="0"/>
              <a:t>Write a conclusion statement(s) for the ANOVA?  What does this test tell us in the context of this study? </a:t>
            </a:r>
          </a:p>
          <a:p>
            <a:pPr marL="514350" indent="-514350">
              <a:buAutoNum type="arabicPeriod"/>
            </a:pPr>
            <a:r>
              <a:rPr lang="en-US" sz="1600" dirty="0"/>
              <a:t>Remember the Tukey HSD from STAT 1 (6371?) Write a conclusion statement(s) for the Tukey HSD?</a:t>
            </a:r>
          </a:p>
          <a:p>
            <a:pPr marL="514350" indent="-514350">
              <a:buAutoNum type="arabicPeriod"/>
            </a:pPr>
            <a:r>
              <a:rPr lang="en-US" sz="1600" dirty="0"/>
              <a:t>To finish up, </a:t>
            </a:r>
            <a:r>
              <a:rPr lang="en-US" sz="1600" dirty="0" err="1"/>
              <a:t>breifly</a:t>
            </a:r>
            <a:r>
              <a:rPr lang="en-US" sz="1600" dirty="0"/>
              <a:t> describe the results of the study!  Is there hope for Medicare Fraud detection using ML? </a:t>
            </a:r>
          </a:p>
        </p:txBody>
      </p:sp>
    </p:spTree>
    <p:extLst>
      <p:ext uri="{BB962C8B-B14F-4D97-AF65-F5344CB8AC3E}">
        <p14:creationId xmlns:p14="http://schemas.microsoft.com/office/powerpoint/2010/main" val="4130371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8DCD-9020-3644-9353-4F7BDFF71695}"/>
              </a:ext>
            </a:extLst>
          </p:cNvPr>
          <p:cNvSpPr>
            <a:spLocks noGrp="1"/>
          </p:cNvSpPr>
          <p:nvPr>
            <p:ph type="title"/>
          </p:nvPr>
        </p:nvSpPr>
        <p:spPr>
          <a:xfrm>
            <a:off x="398833" y="365125"/>
            <a:ext cx="11468911" cy="1325563"/>
          </a:xfrm>
        </p:spPr>
        <p:txBody>
          <a:bodyPr/>
          <a:lstStyle/>
          <a:p>
            <a:r>
              <a:rPr lang="en-US" dirty="0"/>
              <a:t>ANN vs LRM in Classifying Malignant and Biopsy</a:t>
            </a:r>
          </a:p>
        </p:txBody>
      </p:sp>
      <p:sp>
        <p:nvSpPr>
          <p:cNvPr id="3" name="Content Placeholder 2">
            <a:extLst>
              <a:ext uri="{FF2B5EF4-FFF2-40B4-BE49-F238E27FC236}">
                <a16:creationId xmlns:a16="http://schemas.microsoft.com/office/drawing/2014/main" id="{B2F7D915-C4B9-0B42-A0B1-34A85A8C7FCF}"/>
              </a:ext>
            </a:extLst>
          </p:cNvPr>
          <p:cNvSpPr>
            <a:spLocks noGrp="1"/>
          </p:cNvSpPr>
          <p:nvPr>
            <p:ph idx="1"/>
          </p:nvPr>
        </p:nvSpPr>
        <p:spPr>
          <a:xfrm>
            <a:off x="838200" y="1690688"/>
            <a:ext cx="10515600" cy="4911793"/>
          </a:xfrm>
        </p:spPr>
        <p:txBody>
          <a:bodyPr>
            <a:normAutofit fontScale="55000" lnSpcReduction="20000"/>
          </a:bodyPr>
          <a:lstStyle/>
          <a:p>
            <a:pPr marL="0" indent="0">
              <a:buNone/>
            </a:pPr>
            <a:r>
              <a:rPr lang="en-US" sz="3400" dirty="0"/>
              <a:t>You read the ANN v LRM paper in the </a:t>
            </a:r>
            <a:r>
              <a:rPr lang="en-US" sz="3400" dirty="0" err="1"/>
              <a:t>asynch</a:t>
            </a:r>
            <a:r>
              <a:rPr lang="en-US" sz="3400" dirty="0"/>
              <a:t>.  Prepare at least one slide to discuss each of the 7 topics below with respect to that paper. Expected time: 2-3 hours.</a:t>
            </a:r>
          </a:p>
          <a:p>
            <a:pPr marL="0" indent="0">
              <a:buNone/>
            </a:pPr>
            <a:endParaRPr lang="en-US" sz="3400" dirty="0"/>
          </a:p>
          <a:p>
            <a:pPr marL="514350" indent="-514350">
              <a:buAutoNum type="arabicPeriod"/>
            </a:pPr>
            <a:r>
              <a:rPr lang="en-US" sz="3400" dirty="0"/>
              <a:t>Were the data balanced 50% malignant / 50% benign?  If not what was the breakdown?</a:t>
            </a:r>
          </a:p>
          <a:p>
            <a:pPr marL="514350" indent="-514350">
              <a:buAutoNum type="arabicPeriod"/>
            </a:pPr>
            <a:r>
              <a:rPr lang="en-US" sz="3400" dirty="0"/>
              <a:t>What was the train / test split percentages?</a:t>
            </a:r>
          </a:p>
          <a:p>
            <a:pPr marL="514350" indent="-514350">
              <a:buAutoNum type="arabicPeriod"/>
            </a:pPr>
            <a:r>
              <a:rPr lang="en-US" sz="3400" dirty="0"/>
              <a:t>What software was used to implement the neural network and logistic regression models?  </a:t>
            </a:r>
          </a:p>
          <a:p>
            <a:pPr marL="514350" indent="-514350">
              <a:buAutoNum type="arabicPeriod"/>
            </a:pPr>
            <a:r>
              <a:rPr lang="en-US" sz="3400" dirty="0"/>
              <a:t>What was the structure of the neural network model?  They also call it a “training paradigm” in the Discussion.  </a:t>
            </a:r>
          </a:p>
          <a:p>
            <a:pPr marL="514350" indent="-514350">
              <a:buAutoNum type="arabicPeriod"/>
            </a:pPr>
            <a:r>
              <a:rPr lang="en-US" sz="3400" dirty="0"/>
              <a:t>There was a full and reduced logistic regression model (LRM).  Specify each model (a screen shot is fine).  What do you notice that is odd about how the reduced model was formed?  </a:t>
            </a:r>
          </a:p>
          <a:p>
            <a:pPr marL="514350" indent="-514350">
              <a:buAutoNum type="arabicPeriod"/>
            </a:pPr>
            <a:r>
              <a:rPr lang="en-US" sz="3400" dirty="0"/>
              <a:t>Table 3 has the parameter estimates from the LRM model.  Select a significant feature (at the .05 level of significance) and interpret that parameter.  Information on each parameter can be found in Table 2.  As usual, please provide confidence intervals with your interpretation.   </a:t>
            </a:r>
            <a:r>
              <a:rPr lang="en-US" sz="3400" i="1" dirty="0"/>
              <a:t>Hint: You may need to go back to your Stat 2 slides for this question (Unit 12 of 6372.) </a:t>
            </a:r>
          </a:p>
          <a:p>
            <a:pPr marL="514350" indent="-514350">
              <a:buAutoNum type="arabicPeriod"/>
            </a:pPr>
            <a:r>
              <a:rPr lang="en-US" sz="3400" dirty="0"/>
              <a:t>Discuss at least one limitation of the study.</a:t>
            </a:r>
          </a:p>
          <a:p>
            <a:pPr marL="514350" indent="-514350">
              <a:buAutoNum type="arabicPeriod"/>
            </a:pPr>
            <a:endParaRPr lang="en-US" dirty="0"/>
          </a:p>
          <a:p>
            <a:pPr marL="514350" indent="-514350">
              <a:buAutoNum type="arabicPeriod"/>
            </a:pPr>
            <a:endParaRPr lang="en-US" dirty="0"/>
          </a:p>
        </p:txBody>
      </p:sp>
    </p:spTree>
    <p:extLst>
      <p:ext uri="{BB962C8B-B14F-4D97-AF65-F5344CB8AC3E}">
        <p14:creationId xmlns:p14="http://schemas.microsoft.com/office/powerpoint/2010/main" val="7613361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548</TotalTime>
  <Words>594</Words>
  <Application>Microsoft Macintosh PowerPoint</Application>
  <PresentationFormat>Widescreen</PresentationFormat>
  <Paragraphs>25</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Unit 9: Health Care Part 2</vt:lpstr>
      <vt:lpstr>Medicare Fraud and ML</vt:lpstr>
      <vt:lpstr>ANN vs LRM in Classifying Malignant and Biopsy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9: Health Care </dc:title>
  <dc:creator>Microsoft Office User</dc:creator>
  <cp:lastModifiedBy>Sadler, Bivin Philip</cp:lastModifiedBy>
  <cp:revision>18</cp:revision>
  <dcterms:created xsi:type="dcterms:W3CDTF">2019-10-18T17:26:21Z</dcterms:created>
  <dcterms:modified xsi:type="dcterms:W3CDTF">2026-06-28T12:56:04Z</dcterms:modified>
</cp:coreProperties>
</file>